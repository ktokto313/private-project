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vi-VN"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 </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E65EF6DB-7EDF-4D0C-BFF7-0EDEB0165D17}" type="slidenum">
              <a:rPr lang="vi-VN" sz="1200" b="0" u="none" strike="noStrike">
                <a:solidFill>
                  <a:schemeClr val="dk1">
                    <a:tint val="82000"/>
                  </a:schemeClr>
                </a:solidFill>
                <a:effectLst/>
                <a:uFillTx/>
                <a:latin typeface="Aptos"/>
              </a:rPr>
              <a:t>17</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vi-VN"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vi-VN"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vi-VN"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vi-VN"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vi-VN"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vi-VN"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vi-VN"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vi-VN" sz="2800" b="0" u="none" strike="noStrike">
                <a:solidFill>
                  <a:schemeClr val="dk1"/>
                </a:solidFill>
                <a:effectLst/>
                <a:uFillTx/>
                <a:latin typeface="Aptos"/>
              </a:rPr>
              <a:t>Click to edit the outline text format</a:t>
            </a:r>
            <a:endParaRPr lang="vi-VN"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2400" b="0" u="none" strike="noStrike">
                <a:solidFill>
                  <a:schemeClr val="dk1"/>
                </a:solidFill>
                <a:effectLst/>
                <a:uFillTx/>
                <a:latin typeface="Aptos"/>
              </a:rPr>
              <a:t>Second Outline Level</a:t>
            </a:r>
            <a:endParaRPr lang="vi-VN"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vi-VN" sz="2000" b="0" u="none" strike="noStrike">
                <a:solidFill>
                  <a:schemeClr val="dk1"/>
                </a:solidFill>
                <a:effectLst/>
                <a:uFillTx/>
                <a:latin typeface="Aptos"/>
              </a:rPr>
              <a:t>Third Outline Level</a:t>
            </a:r>
            <a:endParaRPr lang="vi-VN"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Fourth Outline Level</a:t>
            </a:r>
            <a:endParaRPr lang="vi-VN"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vi-VN" sz="1800" b="0" u="none" strike="noStrike">
                <a:solidFill>
                  <a:schemeClr val="dk1"/>
                </a:solidFill>
                <a:effectLst/>
                <a:uFillTx/>
                <a:latin typeface="Aptos"/>
              </a:rPr>
              <a:t>Fifth Outline Level</a:t>
            </a:r>
            <a:endParaRPr lang="vi-VN"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vi-VN" sz="2000" b="0" u="none" strike="noStrike">
                <a:solidFill>
                  <a:schemeClr val="dk1"/>
                </a:solidFill>
                <a:effectLst/>
                <a:uFillTx/>
                <a:latin typeface="Aptos"/>
              </a:rPr>
              <a:t>Sixth Outline Level</a:t>
            </a:r>
            <a:endParaRPr lang="vi-VN"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vi-VN" sz="2000" b="0" u="none" strike="noStrike">
                <a:solidFill>
                  <a:schemeClr val="dk1"/>
                </a:solidFill>
                <a:effectLst/>
                <a:uFillTx/>
                <a:latin typeface="Aptos"/>
              </a:rPr>
              <a:t>Seventh Outline Level</a:t>
            </a:r>
            <a:endParaRPr lang="vi-VN"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30345678-47BA-4BBE-AC39-EF42EF87DBAB}"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8AC66B9A-CD1C-4CCB-8E16-33AB96C899BF}"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EE798CC1-7EF0-4157-8129-5A9BF6E6A61B}"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to edit Master title style</a:t>
            </a:r>
            <a:endParaRPr lang="vi-VN" sz="6000" b="0" u="none" strike="noStrike">
              <a:solidFill>
                <a:schemeClr val="dk1"/>
              </a:solidFill>
              <a:effectLst/>
              <a:uFillTx/>
              <a:latin typeface="Aptos Display"/>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vi-VN" sz="2400" b="0" u="none" strike="noStrike">
              <a:solidFill>
                <a:schemeClr val="dk1">
                  <a:tint val="82000"/>
                </a:schemeClr>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B69A2C5E-7EE3-46BA-9422-7AC235EB2522}"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EDEBA82E-B873-4E7A-9014-66D928C9B486}"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vi-VN"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vi-VN"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vi-VN"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vi-VN"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vi-VN"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vi-VN"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vi-VN"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DFAB6EFC-2493-4C48-BB65-0001A81DF745}"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vi-VN" sz="4400" b="0" u="none" strike="noStrike">
              <a:solidFill>
                <a:schemeClr val="dk1"/>
              </a:solidFill>
              <a:effectLst/>
              <a:uFillTx/>
              <a:latin typeface="Aptos Display"/>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C5F225CB-A51B-40DE-9340-DB1E5DE7A2C7}"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D8B98B2C-2F51-465D-9DE0-FDAAA31DD2AB}"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vi-VN" sz="3200" b="0" u="none" strike="noStrike">
              <a:solidFill>
                <a:schemeClr val="dk1"/>
              </a:solidFill>
              <a:effectLst/>
              <a:uFillTx/>
              <a:latin typeface="Aptos Display"/>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vi-VN"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vi-VN"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vi-VN"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vi-VN"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vi-VN" sz="2000" b="0" u="none" strike="noStrik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vi-VN" sz="1600" b="0" u="none" strike="noStrik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1A7BDAB9-CB2E-4442-9612-28D384883DA0}"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vi-VN" sz="3200" b="0" u="none" strike="noStrike">
              <a:solidFill>
                <a:schemeClr val="dk1"/>
              </a:solidFill>
              <a:effectLst/>
              <a:uFillTx/>
              <a:latin typeface="Aptos Display"/>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vi-VN"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vi-VN"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vi-VN"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vi-VN"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vi-VN"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vi-VN"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vi-VN" sz="3200" b="0" u="none" strike="noStrike">
                <a:solidFill>
                  <a:schemeClr val="dk1"/>
                </a:solidFill>
                <a:effectLst/>
                <a:uFillTx/>
                <a:latin typeface="Aptos"/>
              </a:defRPr>
            </a:lvl7pPr>
          </a:lstStyle>
          <a:p>
            <a:pPr algn="l" defTabSz="914400">
              <a:lnSpc>
                <a:spcPct val="90000"/>
              </a:lnSpc>
              <a:spcBef>
                <a:spcPts val="1001"/>
              </a:spcBef>
              <a:buClr>
                <a:srgbClr val="000000"/>
              </a:buClr>
              <a:buFont typeface="Arial"/>
              <a:buChar char="•"/>
              <a:tabLst>
                <a:tab pos="0" algn="l"/>
              </a:tabLst>
            </a:pPr>
            <a:r>
              <a:rPr lang="vi-VN" sz="3200" b="0" u="none" strike="noStrike">
                <a:solidFill>
                  <a:schemeClr val="dk1"/>
                </a:solidFill>
                <a:effectLst/>
                <a:uFillTx/>
                <a:latin typeface="Aptos"/>
              </a:rPr>
              <a:t>Click to edit the outline text format</a:t>
            </a:r>
            <a:endParaRPr lang="vi-VN" sz="3200" b="0" u="none" strike="noStrike">
              <a:solidFill>
                <a:schemeClr val="dk1"/>
              </a:solidFill>
              <a:effectLst/>
              <a:uFillTx/>
              <a:latin typeface="Aptos"/>
            </a:endParaRPr>
          </a:p>
          <a:p>
            <a:pPr marL="457200" lvl="1" algn="l" defTabSz="914400">
              <a:lnSpc>
                <a:spcPct val="90000"/>
              </a:lnSpc>
              <a:spcBef>
                <a:spcPts val="499"/>
              </a:spcBef>
              <a:buClr>
                <a:srgbClr val="000000"/>
              </a:buClr>
              <a:buSzPct val="75000"/>
              <a:buFont typeface="Symbol" charset="2"/>
              <a:buChar char=""/>
            </a:pPr>
            <a:r>
              <a:rPr lang="vi-VN" sz="3200" b="0" u="none" strike="noStrike">
                <a:solidFill>
                  <a:schemeClr val="dk1"/>
                </a:solidFill>
                <a:effectLst/>
                <a:uFillTx/>
                <a:latin typeface="Aptos"/>
              </a:rPr>
              <a:t>Second Outline Level</a:t>
            </a:r>
            <a:endParaRPr lang="vi-VN" sz="3200" b="0" u="none" strike="noStrike">
              <a:solidFill>
                <a:schemeClr val="dk1"/>
              </a:solidFill>
              <a:effectLst/>
              <a:uFillTx/>
              <a:latin typeface="Aptos"/>
            </a:endParaRPr>
          </a:p>
          <a:p>
            <a:pPr marL="914400" lvl="2" algn="l" defTabSz="914400">
              <a:lnSpc>
                <a:spcPct val="90000"/>
              </a:lnSpc>
              <a:spcBef>
                <a:spcPts val="499"/>
              </a:spcBef>
              <a:buClr>
                <a:srgbClr val="000000"/>
              </a:buClr>
              <a:buSzPct val="45000"/>
              <a:buFont typeface="Wingdings" charset="2"/>
              <a:buChar char=""/>
            </a:pPr>
            <a:r>
              <a:rPr lang="vi-VN" sz="3200" b="0" u="none" strike="noStrike">
                <a:solidFill>
                  <a:schemeClr val="dk1"/>
                </a:solidFill>
                <a:effectLst/>
                <a:uFillTx/>
                <a:latin typeface="Aptos"/>
              </a:rPr>
              <a:t>Third Outline Level</a:t>
            </a:r>
            <a:endParaRPr lang="vi-VN" sz="3200" b="0" u="none" strike="noStrike">
              <a:solidFill>
                <a:schemeClr val="dk1"/>
              </a:solidFill>
              <a:effectLst/>
              <a:uFillTx/>
              <a:latin typeface="Aptos"/>
            </a:endParaRPr>
          </a:p>
          <a:p>
            <a:pPr marL="1371600" lvl="3" algn="l" defTabSz="914400">
              <a:lnSpc>
                <a:spcPct val="90000"/>
              </a:lnSpc>
              <a:spcBef>
                <a:spcPts val="499"/>
              </a:spcBef>
              <a:buClr>
                <a:srgbClr val="000000"/>
              </a:buClr>
              <a:buSzPct val="75000"/>
              <a:buFont typeface="Symbol" charset="2"/>
              <a:buChar char=""/>
            </a:pPr>
            <a:r>
              <a:rPr lang="vi-VN" sz="3200" b="0" u="none" strike="noStrike">
                <a:solidFill>
                  <a:schemeClr val="dk1"/>
                </a:solidFill>
                <a:effectLst/>
                <a:uFillTx/>
                <a:latin typeface="Aptos"/>
              </a:rPr>
              <a:t>Fourth Outline Level</a:t>
            </a:r>
            <a:endParaRPr lang="vi-VN" sz="3200" b="0" u="none" strike="noStrike">
              <a:solidFill>
                <a:schemeClr val="dk1"/>
              </a:solidFill>
              <a:effectLst/>
              <a:uFillTx/>
              <a:latin typeface="Aptos"/>
            </a:endParaRPr>
          </a:p>
          <a:p>
            <a:pPr marL="1828800" lvl="4" algn="l" defTabSz="914400">
              <a:lnSpc>
                <a:spcPct val="90000"/>
              </a:lnSpc>
              <a:spcBef>
                <a:spcPts val="499"/>
              </a:spcBef>
              <a:buClr>
                <a:srgbClr val="000000"/>
              </a:buClr>
              <a:buSzPct val="45000"/>
              <a:buFont typeface="Wingdings" charset="2"/>
              <a:buChar char=""/>
            </a:pPr>
            <a:r>
              <a:rPr lang="vi-VN" sz="3200" b="0" u="none" strike="noStrike">
                <a:solidFill>
                  <a:schemeClr val="dk1"/>
                </a:solidFill>
                <a:effectLst/>
                <a:uFillTx/>
                <a:latin typeface="Aptos"/>
              </a:rPr>
              <a:t>Fifth Outline Level</a:t>
            </a:r>
            <a:endParaRPr lang="vi-VN" sz="3200" b="0" u="none" strike="noStrike">
              <a:solidFill>
                <a:schemeClr val="dk1"/>
              </a:solidFill>
              <a:effectLst/>
              <a:uFillTx/>
              <a:latin typeface="Aptos"/>
            </a:endParaRPr>
          </a:p>
          <a:p>
            <a:pPr marL="2286000" lvl="5" algn="l" defTabSz="914400">
              <a:lnSpc>
                <a:spcPct val="90000"/>
              </a:lnSpc>
              <a:spcBef>
                <a:spcPts val="283"/>
              </a:spcBef>
              <a:buClr>
                <a:srgbClr val="000000"/>
              </a:buClr>
              <a:buSzPct val="45000"/>
              <a:buFont typeface="Wingdings" charset="2"/>
              <a:buChar char=""/>
            </a:pPr>
            <a:r>
              <a:rPr lang="vi-VN" sz="3200" b="0" u="none" strike="noStrike">
                <a:solidFill>
                  <a:schemeClr val="dk1"/>
                </a:solidFill>
                <a:effectLst/>
                <a:uFillTx/>
                <a:latin typeface="Aptos"/>
              </a:rPr>
              <a:t>Sixth Outline Level</a:t>
            </a:r>
            <a:endParaRPr lang="vi-VN" sz="3200" b="0" u="none" strike="noStrike">
              <a:solidFill>
                <a:schemeClr val="dk1"/>
              </a:solidFill>
              <a:effectLst/>
              <a:uFillTx/>
              <a:latin typeface="Aptos"/>
            </a:endParaRPr>
          </a:p>
          <a:p>
            <a:pPr marL="2743200" lvl="6" algn="l" defTabSz="914400">
              <a:lnSpc>
                <a:spcPct val="90000"/>
              </a:lnSpc>
              <a:spcBef>
                <a:spcPts val="283"/>
              </a:spcBef>
              <a:buClr>
                <a:srgbClr val="000000"/>
              </a:buClr>
              <a:buSzPct val="45000"/>
              <a:buFont typeface="Wingdings" charset="2"/>
              <a:buChar char=""/>
            </a:pPr>
            <a:r>
              <a:rPr lang="vi-VN" sz="3200" b="0" u="none" strike="noStrike">
                <a:solidFill>
                  <a:schemeClr val="dk1"/>
                </a:solidFill>
                <a:effectLst/>
                <a:uFillTx/>
                <a:latin typeface="Aptos"/>
              </a:rPr>
              <a:t>Seventh Outline Level</a:t>
            </a:r>
            <a:endParaRPr lang="vi-VN" sz="32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vi-VN"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vi-VN" sz="1200" b="0" u="none" strike="noStrike">
                <a:solidFill>
                  <a:schemeClr val="dk1">
                    <a:tint val="82000"/>
                  </a:schemeClr>
                </a:solidFill>
                <a:effectLst/>
                <a:uFillTx/>
                <a:latin typeface="Aptos"/>
              </a:defRPr>
            </a:lvl1pPr>
          </a:lstStyle>
          <a:p>
            <a:pPr indent="0" algn="l" defTabSz="914400">
              <a:lnSpc>
                <a:spcPct val="100000"/>
              </a:lnSpc>
              <a:buNone/>
            </a:pPr>
            <a:r>
              <a:rPr lang="vi-V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vi-VN" sz="1200" b="0" u="none" strike="noStrike">
                <a:solidFill>
                  <a:schemeClr val="dk1">
                    <a:tint val="82000"/>
                  </a:schemeClr>
                </a:solidFill>
                <a:effectLst/>
                <a:uFillTx/>
                <a:latin typeface="Aptos"/>
              </a:defRPr>
            </a:lvl1pPr>
          </a:lstStyle>
          <a:p>
            <a:pPr indent="0" algn="r" defTabSz="914400">
              <a:lnSpc>
                <a:spcPct val="100000"/>
              </a:lnSpc>
              <a:buNone/>
            </a:pPr>
            <a:fld id="{31A9B0A7-A199-474E-83DA-AF1D98D6EA7A}" type="slidenum">
              <a:rPr lang="vi-V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p>
            <a:pPr indent="0" algn="ctr" defTabSz="914400">
              <a:lnSpc>
                <a:spcPct val="90000"/>
              </a:lnSpc>
              <a:buNone/>
            </a:pPr>
            <a:r>
              <a:rPr lang="en-US" sz="6000" b="0" u="none" strike="noStrike">
                <a:solidFill>
                  <a:schemeClr val="dk1"/>
                </a:solidFill>
                <a:effectLst/>
                <a:uFillTx/>
                <a:latin typeface="Aptos Display"/>
              </a:rPr>
              <a:t>Báo cáo bài tập</a:t>
            </a:r>
            <a:endParaRPr lang="vi-VN" sz="6000" b="0" u="none" strike="noStrike">
              <a:solidFill>
                <a:schemeClr val="dk1"/>
              </a:solidFill>
              <a:effectLst/>
              <a:uFillTx/>
              <a:latin typeface="Aptos Display"/>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p>
            <a:pPr indent="0" algn="ctr" defTabSz="914400">
              <a:lnSpc>
                <a:spcPct val="90000"/>
              </a:lnSpc>
              <a:spcBef>
                <a:spcPts val="1001"/>
              </a:spcBef>
              <a:buNone/>
              <a:tabLst>
                <a:tab pos="0" algn="l"/>
              </a:tabLst>
            </a:pP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Picture 8"/>
          <p:cNvPicPr/>
          <p:nvPr/>
        </p:nvPicPr>
        <p:blipFill>
          <a:blip r:embed="rId1"/>
          <a:stretch/>
        </p:blipFill>
        <p:spPr>
          <a:xfrm>
            <a:off x="838080" y="2130480"/>
            <a:ext cx="10515240" cy="2805120"/>
          </a:xfrm>
          <a:prstGeom prst="rect">
            <a:avLst/>
          </a:prstGeom>
          <a:noFill/>
          <a:ln w="0">
            <a:noFill/>
          </a:ln>
        </p:spPr>
      </p:pic>
      <p:sp>
        <p:nvSpPr>
          <p:cNvPr id="63" name="PlaceHolder 1"/>
          <p:cNvSpPr>
            <a:spLocks noGrp="1"/>
          </p:cNvSpPr>
          <p:nvPr>
            <p:ph type="title"/>
          </p:nvPr>
        </p:nvSpPr>
        <p:spPr>
          <a:xfrm>
            <a:off x="8326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Tổng quan hệ thống</a:t>
            </a:r>
            <a:endParaRPr lang="vi-VN" sz="4400" b="0" u="none" strike="noStrike">
              <a:solidFill>
                <a:schemeClr val="dk1"/>
              </a:solidFill>
              <a:effectLst/>
              <a:uFillTx/>
              <a:latin typeface="Aptos Display"/>
            </a:endParaRPr>
          </a:p>
        </p:txBody>
      </p:sp>
      <p:sp>
        <p:nvSpPr>
          <p:cNvPr id="64" name="TextBox 3"/>
          <p:cNvSpPr/>
          <p:nvPr/>
        </p:nvSpPr>
        <p:spPr>
          <a:xfrm>
            <a:off x="4184640" y="4750920"/>
            <a:ext cx="3822480" cy="36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Tổng quan hệ thống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Picture 2"/>
          <p:cNvPicPr/>
          <p:nvPr/>
        </p:nvPicPr>
        <p:blipFill>
          <a:blip r:embed="rId1"/>
          <a:stretch/>
        </p:blipFill>
        <p:spPr>
          <a:xfrm>
            <a:off x="0" y="1825560"/>
            <a:ext cx="10567800" cy="5032080"/>
          </a:xfrm>
          <a:prstGeom prst="rect">
            <a:avLst/>
          </a:prstGeom>
          <a:noFill/>
          <a:ln w="0">
            <a:noFill/>
          </a:ln>
        </p:spPr>
      </p:pic>
      <p:pic>
        <p:nvPicPr>
          <p:cNvPr id="66" name="Picture 4"/>
          <p:cNvPicPr/>
          <p:nvPr/>
        </p:nvPicPr>
        <p:blipFill>
          <a:blip r:embed="rId2"/>
          <a:stretch/>
        </p:blipFill>
        <p:spPr>
          <a:xfrm>
            <a:off x="10568160" y="1825560"/>
            <a:ext cx="1690920" cy="4354560"/>
          </a:xfrm>
          <a:prstGeom prst="rect">
            <a:avLst/>
          </a:prstGeom>
          <a:noFill/>
          <a:ln w="0">
            <a:noFill/>
          </a:ln>
        </p:spPr>
      </p:pic>
      <p:sp>
        <p:nvSpPr>
          <p:cNvPr id="67"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Sơ đồ thực thể quan hệ </a:t>
            </a:r>
            <a:endParaRPr lang="vi-VN" sz="4400" b="0" u="none" strike="noStrike">
              <a:solidFill>
                <a:schemeClr val="dk1"/>
              </a:solidFill>
              <a:effectLst/>
              <a:uFillTx/>
              <a:latin typeface="Aptos Display"/>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Sơ đồ thực thể quan hệ </a:t>
            </a:r>
            <a:endParaRPr lang="vi-VN" sz="4400" b="0" u="none" strike="noStrike">
              <a:solidFill>
                <a:schemeClr val="dk1"/>
              </a:solidFill>
              <a:effectLst/>
              <a:uFillTx/>
              <a:latin typeface="Aptos Display"/>
            </a:endParaRPr>
          </a:p>
        </p:txBody>
      </p:sp>
      <p:pic>
        <p:nvPicPr>
          <p:cNvPr id="69" name="Picture 2"/>
          <p:cNvPicPr/>
          <p:nvPr/>
        </p:nvPicPr>
        <p:blipFill>
          <a:blip r:embed="rId1"/>
          <a:stretch/>
        </p:blipFill>
        <p:spPr>
          <a:xfrm>
            <a:off x="1422000" y="1241280"/>
            <a:ext cx="8624880" cy="3371040"/>
          </a:xfrm>
          <a:prstGeom prst="rect">
            <a:avLst/>
          </a:prstGeom>
          <a:noFill/>
          <a:ln w="0">
            <a:noFill/>
          </a:ln>
        </p:spPr>
      </p:pic>
      <p:sp>
        <p:nvSpPr>
          <p:cNvPr id="70" name="TextBox 3"/>
          <p:cNvSpPr/>
          <p:nvPr/>
        </p:nvSpPr>
        <p:spPr>
          <a:xfrm>
            <a:off x="2884680" y="4858560"/>
            <a:ext cx="6422400" cy="11998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chemeClr val="dk1"/>
                </a:solidFill>
                <a:effectLst/>
                <a:uFillTx/>
                <a:latin typeface="Aptos"/>
              </a:rPr>
              <a:t>Attachment được thiết kế nhằm thống nhất một thực thể đính kèm trong database nên trường AttachedObjectID có thể chứa ID của ticket hoặc comment tùy theo giá trị của trường AttachedObjectType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Luồng chính hệ thống</a:t>
            </a:r>
            <a:endParaRPr lang="vi-VN" sz="4400" b="0" u="none" strike="noStrike">
              <a:solidFill>
                <a:schemeClr val="dk1"/>
              </a:solidFill>
              <a:effectLst/>
              <a:uFillTx/>
              <a:latin typeface="Aptos Display"/>
            </a:endParaRPr>
          </a:p>
        </p:txBody>
      </p:sp>
      <p:pic>
        <p:nvPicPr>
          <p:cNvPr id="72" name="Picture 10"/>
          <p:cNvPicPr/>
          <p:nvPr/>
        </p:nvPicPr>
        <p:blipFill>
          <a:blip r:embed="rId1"/>
          <a:stretch/>
        </p:blipFill>
        <p:spPr>
          <a:xfrm>
            <a:off x="0" y="1343880"/>
            <a:ext cx="12061800" cy="2368080"/>
          </a:xfrm>
          <a:prstGeom prst="rect">
            <a:avLst/>
          </a:prstGeom>
          <a:noFill/>
          <a:ln w="0">
            <a:noFill/>
          </a:ln>
        </p:spPr>
      </p:pic>
      <p:sp>
        <p:nvSpPr>
          <p:cNvPr id="73" name="TextBox 5"/>
          <p:cNvSpPr/>
          <p:nvPr/>
        </p:nvSpPr>
        <p:spPr>
          <a:xfrm>
            <a:off x="4184640" y="3429000"/>
            <a:ext cx="3822480" cy="36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Tổng quan hệ thống backend</a:t>
            </a:r>
            <a:endParaRPr lang="en-US" sz="1800" b="0" u="none" strike="noStrike">
              <a:solidFill>
                <a:srgbClr val="000000"/>
              </a:solidFill>
              <a:effectLst/>
              <a:uFillTx/>
              <a:latin typeface="Arial"/>
            </a:endParaRPr>
          </a:p>
        </p:txBody>
      </p:sp>
      <p:sp>
        <p:nvSpPr>
          <p:cNvPr id="74" name="TextBox 3"/>
          <p:cNvSpPr/>
          <p:nvPr/>
        </p:nvSpPr>
        <p:spPr>
          <a:xfrm>
            <a:off x="3176640" y="4167000"/>
            <a:ext cx="5838480" cy="1753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chemeClr val="dk1"/>
                </a:solidFill>
                <a:effectLst/>
                <a:uFillTx/>
                <a:latin typeface="Aptos"/>
              </a:rPr>
              <a:t>Hệ thống sử dụng Filter của Spring để xác thực người dùng nên API request sẽ đi qua JWTFilter và Admin filter tương ứng với địa chỉ của API</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Về phần kết nối với database sử dụng JDBC thuần, sử dụng Mapper để ánh xạ dữ liệu về lại thành các model</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Picture 2"/>
          <p:cNvPicPr/>
          <p:nvPr/>
        </p:nvPicPr>
        <p:blipFill>
          <a:blip r:embed="rId1"/>
          <a:stretch/>
        </p:blipFill>
        <p:spPr>
          <a:xfrm>
            <a:off x="838080" y="1077120"/>
            <a:ext cx="10515240" cy="2886120"/>
          </a:xfrm>
          <a:prstGeom prst="rect">
            <a:avLst/>
          </a:prstGeom>
          <a:noFill/>
          <a:ln w="0">
            <a:noFill/>
          </a:ln>
        </p:spPr>
      </p:pic>
      <p:sp>
        <p:nvSpPr>
          <p:cNvPr id="76"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Luồng đăng nhập</a:t>
            </a:r>
            <a:endParaRPr lang="vi-VN" sz="4400" b="0" u="none" strike="noStrike">
              <a:solidFill>
                <a:schemeClr val="dk1"/>
              </a:solidFill>
              <a:effectLst/>
              <a:uFillTx/>
              <a:latin typeface="Aptos Display"/>
            </a:endParaRPr>
          </a:p>
        </p:txBody>
      </p:sp>
      <p:sp>
        <p:nvSpPr>
          <p:cNvPr id="77" name="TextBox 3"/>
          <p:cNvSpPr/>
          <p:nvPr/>
        </p:nvSpPr>
        <p:spPr>
          <a:xfrm>
            <a:off x="5164560" y="3963600"/>
            <a:ext cx="6535080" cy="2031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chemeClr val="dk1"/>
                </a:solidFill>
                <a:effectLst/>
                <a:uFillTx/>
                <a:latin typeface="Aptos"/>
              </a:rPr>
              <a:t>Địa chỉ api /api/auth sẽ không được lọc bởi JWTFilter nên đi thẳng vào controller</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Hệ thống sử dụng HTTP-Only cookie để lưu trữ token JWT nhằm ngăn chặn các cuộc tấn công XSS nếu có.</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78" name="Picture 4"/>
          <p:cNvPicPr/>
          <p:nvPr/>
        </p:nvPicPr>
        <p:blipFill>
          <a:blip r:embed="rId2"/>
          <a:stretch/>
        </p:blipFill>
        <p:spPr>
          <a:xfrm>
            <a:off x="838080" y="3963600"/>
            <a:ext cx="3975840" cy="28915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Mô hình use case</a:t>
            </a:r>
            <a:endParaRPr lang="vi-VN" sz="4400" b="0" u="none" strike="noStrike">
              <a:solidFill>
                <a:schemeClr val="dk1"/>
              </a:solidFill>
              <a:effectLst/>
              <a:uFillTx/>
              <a:latin typeface="Aptos Display"/>
            </a:endParaRPr>
          </a:p>
        </p:txBody>
      </p:sp>
      <p:pic>
        <p:nvPicPr>
          <p:cNvPr id="80" name="Picture 2"/>
          <p:cNvPicPr/>
          <p:nvPr/>
        </p:nvPicPr>
        <p:blipFill>
          <a:blip r:embed="rId1"/>
          <a:stretch/>
        </p:blipFill>
        <p:spPr>
          <a:xfrm>
            <a:off x="2147040" y="1000080"/>
            <a:ext cx="7897680" cy="4857840"/>
          </a:xfrm>
          <a:prstGeom prst="rect">
            <a:avLst/>
          </a:prstGeom>
          <a:noFill/>
          <a:ln w="0">
            <a:noFill/>
          </a:ln>
        </p:spPr>
      </p:pic>
      <p:sp>
        <p:nvSpPr>
          <p:cNvPr id="81" name="TextBox 3"/>
          <p:cNvSpPr/>
          <p:nvPr/>
        </p:nvSpPr>
        <p:spPr>
          <a:xfrm>
            <a:off x="4548240" y="5821920"/>
            <a:ext cx="309528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Mô hình sử dụng của người dùng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Mô hình use case</a:t>
            </a:r>
            <a:endParaRPr lang="vi-VN" sz="4400" b="0" u="none" strike="noStrike">
              <a:solidFill>
                <a:schemeClr val="dk1"/>
              </a:solidFill>
              <a:effectLst/>
              <a:uFillTx/>
              <a:latin typeface="Aptos Display"/>
            </a:endParaRPr>
          </a:p>
        </p:txBody>
      </p:sp>
      <p:sp>
        <p:nvSpPr>
          <p:cNvPr id="83" name="TextBox 3"/>
          <p:cNvSpPr/>
          <p:nvPr/>
        </p:nvSpPr>
        <p:spPr>
          <a:xfrm>
            <a:off x="3550320" y="5173560"/>
            <a:ext cx="5091120" cy="11998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Mô hình sử dụng của IT</a:t>
            </a:r>
            <a:endParaRPr lang="en-US" sz="1800" b="0" u="none" strike="noStrike">
              <a:solidFill>
                <a:srgbClr val="000000"/>
              </a:solidFill>
              <a:effectLst/>
              <a:uFillTx/>
              <a:latin typeface="Arial"/>
            </a:endParaRPr>
          </a:p>
          <a:p>
            <a:pPr algn="ctr" defTabSz="914400">
              <a:lnSpc>
                <a:spcPct val="100000"/>
              </a:lnSpc>
            </a:pPr>
            <a:endParaRPr lang="en-US" sz="18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Ở đây IT helper kế thừa actor User nên cũng có thể sử dụng tất cả các chức năng như một user</a:t>
            </a:r>
            <a:endParaRPr lang="en-US" sz="1800" b="0" u="none" strike="noStrike">
              <a:solidFill>
                <a:srgbClr val="000000"/>
              </a:solidFill>
              <a:effectLst/>
              <a:uFillTx/>
              <a:latin typeface="Arial"/>
            </a:endParaRPr>
          </a:p>
        </p:txBody>
      </p:sp>
      <p:pic>
        <p:nvPicPr>
          <p:cNvPr id="84" name="Picture 2"/>
          <p:cNvPicPr/>
          <p:nvPr/>
        </p:nvPicPr>
        <p:blipFill>
          <a:blip r:embed="rId1"/>
          <a:stretch/>
        </p:blipFill>
        <p:spPr>
          <a:xfrm>
            <a:off x="838080" y="1755000"/>
            <a:ext cx="10515240" cy="35888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Mô hình use case</a:t>
            </a:r>
            <a:endParaRPr lang="vi-VN" sz="4400" b="0" u="none" strike="noStrike">
              <a:solidFill>
                <a:schemeClr val="dk1"/>
              </a:solidFill>
              <a:effectLst/>
              <a:uFillTx/>
              <a:latin typeface="Aptos Display"/>
            </a:endParaRPr>
          </a:p>
        </p:txBody>
      </p:sp>
      <p:sp>
        <p:nvSpPr>
          <p:cNvPr id="86" name="TextBox 3"/>
          <p:cNvSpPr/>
          <p:nvPr/>
        </p:nvSpPr>
        <p:spPr>
          <a:xfrm>
            <a:off x="3550320" y="5173560"/>
            <a:ext cx="5091120" cy="11998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Mô hình sử dụng của Admin</a:t>
            </a:r>
            <a:endParaRPr lang="en-US" sz="1800" b="0" u="none" strike="noStrike">
              <a:solidFill>
                <a:srgbClr val="000000"/>
              </a:solidFill>
              <a:effectLst/>
              <a:uFillTx/>
              <a:latin typeface="Arial"/>
            </a:endParaRPr>
          </a:p>
          <a:p>
            <a:pPr algn="ctr" defTabSz="914400">
              <a:lnSpc>
                <a:spcPct val="100000"/>
              </a:lnSpc>
            </a:pPr>
            <a:endParaRPr lang="en-US" sz="18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Ở đây Admin kế thừa actor IT nên cũng có thể sử dụng tất cả các chức năng như một IT helper</a:t>
            </a:r>
            <a:endParaRPr lang="en-US" sz="1800" b="0" u="none" strike="noStrike">
              <a:solidFill>
                <a:srgbClr val="000000"/>
              </a:solidFill>
              <a:effectLst/>
              <a:uFillTx/>
              <a:latin typeface="Arial"/>
            </a:endParaRPr>
          </a:p>
        </p:txBody>
      </p:sp>
      <p:pic>
        <p:nvPicPr>
          <p:cNvPr id="87" name="Picture 2"/>
          <p:cNvPicPr/>
          <p:nvPr/>
        </p:nvPicPr>
        <p:blipFill>
          <a:blip r:embed="rId1"/>
          <a:stretch/>
        </p:blipFill>
        <p:spPr>
          <a:xfrm>
            <a:off x="2246040" y="919440"/>
            <a:ext cx="6302520" cy="43077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Mô hình luồng thông báo</a:t>
            </a:r>
            <a:endParaRPr lang="vi-VN" sz="4400" b="0" u="none" strike="noStrike">
              <a:solidFill>
                <a:schemeClr val="dk1"/>
              </a:solidFill>
              <a:effectLst/>
              <a:uFillTx/>
              <a:latin typeface="Aptos Display"/>
            </a:endParaRPr>
          </a:p>
        </p:txBody>
      </p:sp>
      <p:sp>
        <p:nvSpPr>
          <p:cNvPr id="89" name="TextBox 1"/>
          <p:cNvSpPr/>
          <p:nvPr/>
        </p:nvSpPr>
        <p:spPr>
          <a:xfrm>
            <a:off x="3550320" y="5173560"/>
            <a:ext cx="5091120" cy="17362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Aptos"/>
              </a:rPr>
              <a:t>Luồng thông báo sử dụng DI của spring nên chỉ cần tạo một class mới implement interface subcriber là có thể nhận được thông báo</a:t>
            </a:r>
            <a:endParaRPr lang="en-US" sz="1800" b="0" u="none" strike="noStrike">
              <a:solidFill>
                <a:srgbClr val="000000"/>
              </a:solidFill>
              <a:effectLst/>
              <a:uFillTx/>
              <a:latin typeface="Arial"/>
            </a:endParaRPr>
          </a:p>
          <a:p>
            <a:pPr algn="ctr" defTabSz="914400">
              <a:lnSpc>
                <a:spcPct val="100000"/>
              </a:lnSpc>
            </a:pPr>
            <a:endParaRPr lang="en-US" sz="1800" b="0" u="none" strike="noStrike">
              <a:solidFill>
                <a:srgbClr val="000000"/>
              </a:solidFill>
              <a:effectLst/>
              <a:uFillTx/>
              <a:latin typeface="Arial"/>
            </a:endParaRPr>
          </a:p>
          <a:p>
            <a:pPr algn="ctr" defTabSz="914400">
              <a:lnSpc>
                <a:spcPct val="100000"/>
              </a:lnSpc>
            </a:pPr>
            <a:endParaRPr lang="en-US" sz="1800" b="0" u="none" strike="noStrike">
              <a:solidFill>
                <a:srgbClr val="000000"/>
              </a:solidFill>
              <a:effectLst/>
              <a:uFillTx/>
              <a:latin typeface="Arial"/>
            </a:endParaRPr>
          </a:p>
        </p:txBody>
      </p:sp>
      <p:pic>
        <p:nvPicPr>
          <p:cNvPr id="90" name=""/>
          <p:cNvPicPr/>
          <p:nvPr/>
        </p:nvPicPr>
        <p:blipFill>
          <a:blip r:embed="rId1"/>
          <a:stretch/>
        </p:blipFill>
        <p:spPr>
          <a:xfrm>
            <a:off x="2286000" y="988560"/>
            <a:ext cx="7315200" cy="40406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92" name="PlaceHolder 2"/>
          <p:cNvSpPr>
            <a:spLocks noGrp="1"/>
          </p:cNvSpPr>
          <p:nvPr>
            <p:ph/>
          </p:nvPr>
        </p:nvSpPr>
        <p:spPr>
          <a:xfrm>
            <a:off x="914400" y="593568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của admin, cho phép xem tất cả các ticket </a:t>
            </a:r>
            <a:endParaRPr lang="vi-VN" sz="1800" b="0" u="none" strike="noStrike">
              <a:solidFill>
                <a:schemeClr val="dk1"/>
              </a:solidFill>
              <a:effectLst/>
              <a:uFillTx/>
              <a:latin typeface="Aptos"/>
            </a:endParaRPr>
          </a:p>
        </p:txBody>
      </p:sp>
      <p:pic>
        <p:nvPicPr>
          <p:cNvPr id="93" name=""/>
          <p:cNvPicPr/>
          <p:nvPr/>
        </p:nvPicPr>
        <p:blipFill>
          <a:blip r:embed="rId1"/>
          <a:stretch/>
        </p:blipFill>
        <p:spPr>
          <a:xfrm>
            <a:off x="2286000" y="1098360"/>
            <a:ext cx="7786080" cy="46166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95" name="PlaceHolder 2"/>
          <p:cNvSpPr>
            <a:spLocks noGrp="1"/>
          </p:cNvSpPr>
          <p:nvPr>
            <p:ph/>
          </p:nvPr>
        </p:nvSpPr>
        <p:spPr>
          <a:xfrm>
            <a:off x="914400" y="548640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của người dùng, cho phép xem các ticket mình đã tạo</a:t>
            </a:r>
            <a:endParaRPr lang="vi-VN" sz="1800" b="0" u="none" strike="noStrike">
              <a:solidFill>
                <a:schemeClr val="dk1"/>
              </a:solidFill>
              <a:effectLst/>
              <a:uFillTx/>
              <a:latin typeface="Aptos"/>
            </a:endParaRPr>
          </a:p>
          <a:p>
            <a:pPr marL="228600" indent="0" algn="ctr" defTabSz="914400">
              <a:lnSpc>
                <a:spcPct val="90000"/>
              </a:lnSpc>
              <a:spcBef>
                <a:spcPts val="1001"/>
              </a:spcBef>
              <a:buNone/>
            </a:pPr>
            <a:r>
              <a:rPr lang="vi-VN" sz="1800" b="0" u="none" strike="noStrike">
                <a:solidFill>
                  <a:schemeClr val="dk1"/>
                </a:solidFill>
                <a:effectLst/>
                <a:uFillTx/>
                <a:latin typeface="Aptos"/>
              </a:rPr>
              <a:t>Tương tự với giao diện của IT, chỉ cho phép xem các ticket đã tạo hoặc ticket trong thẩm quyền xử lí </a:t>
            </a:r>
            <a:endParaRPr lang="vi-VN" sz="1800" b="0" u="none" strike="noStrike">
              <a:solidFill>
                <a:schemeClr val="dk1"/>
              </a:solidFill>
              <a:effectLst/>
              <a:uFillTx/>
              <a:latin typeface="Aptos"/>
            </a:endParaRPr>
          </a:p>
          <a:p>
            <a:pPr marL="228600" indent="0" algn="ctr" defTabSz="914400">
              <a:lnSpc>
                <a:spcPct val="90000"/>
              </a:lnSpc>
              <a:spcBef>
                <a:spcPts val="1001"/>
              </a:spcBef>
              <a:buNone/>
            </a:pPr>
            <a:r>
              <a:rPr lang="vi-VN" sz="1800" b="0" u="none" strike="noStrike">
                <a:solidFill>
                  <a:schemeClr val="dk1"/>
                </a:solidFill>
                <a:effectLst/>
                <a:uFillTx/>
                <a:latin typeface="Aptos"/>
              </a:rPr>
              <a:t>Danh sách ticket được lọc ở backend trước khi gửi về frontend</a:t>
            </a:r>
            <a:endParaRPr lang="vi-VN" sz="1800" b="0" u="none" strike="noStrike">
              <a:solidFill>
                <a:schemeClr val="dk1"/>
              </a:solidFill>
              <a:effectLst/>
              <a:uFillTx/>
              <a:latin typeface="Aptos"/>
            </a:endParaRPr>
          </a:p>
        </p:txBody>
      </p:sp>
      <p:pic>
        <p:nvPicPr>
          <p:cNvPr id="96" name=""/>
          <p:cNvPicPr/>
          <p:nvPr/>
        </p:nvPicPr>
        <p:blipFill>
          <a:blip r:embed="rId1"/>
          <a:stretch/>
        </p:blipFill>
        <p:spPr>
          <a:xfrm>
            <a:off x="457200" y="1073160"/>
            <a:ext cx="11425320" cy="44064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98" name="PlaceHolder 2"/>
          <p:cNvSpPr>
            <a:spLocks noGrp="1"/>
          </p:cNvSpPr>
          <p:nvPr>
            <p:ph/>
          </p:nvPr>
        </p:nvSpPr>
        <p:spPr>
          <a:xfrm>
            <a:off x="914400" y="548640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tạo ticket mới</a:t>
            </a:r>
            <a:endParaRPr lang="vi-VN" sz="1800" b="0" u="none" strike="noStrike">
              <a:solidFill>
                <a:schemeClr val="dk1"/>
              </a:solidFill>
              <a:effectLst/>
              <a:uFillTx/>
              <a:latin typeface="Aptos"/>
            </a:endParaRPr>
          </a:p>
        </p:txBody>
      </p:sp>
      <p:pic>
        <p:nvPicPr>
          <p:cNvPr id="99" name=""/>
          <p:cNvPicPr/>
          <p:nvPr/>
        </p:nvPicPr>
        <p:blipFill>
          <a:blip r:embed="rId1"/>
          <a:stretch/>
        </p:blipFill>
        <p:spPr>
          <a:xfrm>
            <a:off x="2879280" y="1152720"/>
            <a:ext cx="6493320" cy="38764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101" name="PlaceHolder 2"/>
          <p:cNvSpPr>
            <a:spLocks noGrp="1"/>
          </p:cNvSpPr>
          <p:nvPr>
            <p:ph/>
          </p:nvPr>
        </p:nvSpPr>
        <p:spPr>
          <a:xfrm>
            <a:off x="914400" y="593568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quản lí cho admin</a:t>
            </a:r>
            <a:endParaRPr lang="vi-VN" sz="1800" b="0" u="none" strike="noStrike">
              <a:solidFill>
                <a:schemeClr val="dk1"/>
              </a:solidFill>
              <a:effectLst/>
              <a:uFillTx/>
              <a:latin typeface="Aptos"/>
            </a:endParaRPr>
          </a:p>
        </p:txBody>
      </p:sp>
      <p:pic>
        <p:nvPicPr>
          <p:cNvPr id="102" name=""/>
          <p:cNvPicPr/>
          <p:nvPr/>
        </p:nvPicPr>
        <p:blipFill>
          <a:blip r:embed="rId1"/>
          <a:stretch/>
        </p:blipFill>
        <p:spPr>
          <a:xfrm>
            <a:off x="2055600" y="906480"/>
            <a:ext cx="8460000" cy="50292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104" name="PlaceHolder 2"/>
          <p:cNvSpPr>
            <a:spLocks noGrp="1"/>
          </p:cNvSpPr>
          <p:nvPr>
            <p:ph/>
          </p:nvPr>
        </p:nvSpPr>
        <p:spPr>
          <a:xfrm>
            <a:off x="914400" y="593568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thống kê cho admin</a:t>
            </a:r>
            <a:endParaRPr lang="vi-VN" sz="1800" b="0" u="none" strike="noStrike">
              <a:solidFill>
                <a:schemeClr val="dk1"/>
              </a:solidFill>
              <a:effectLst/>
              <a:uFillTx/>
              <a:latin typeface="Aptos"/>
            </a:endParaRPr>
          </a:p>
        </p:txBody>
      </p:sp>
      <p:pic>
        <p:nvPicPr>
          <p:cNvPr id="105" name=""/>
          <p:cNvPicPr/>
          <p:nvPr/>
        </p:nvPicPr>
        <p:blipFill>
          <a:blip r:embed="rId1"/>
          <a:stretch/>
        </p:blipFill>
        <p:spPr>
          <a:xfrm>
            <a:off x="2423160" y="906480"/>
            <a:ext cx="3520440" cy="5029200"/>
          </a:xfrm>
          <a:prstGeom prst="rect">
            <a:avLst/>
          </a:prstGeom>
          <a:noFill/>
          <a:ln w="0">
            <a:noFill/>
          </a:ln>
        </p:spPr>
      </p:pic>
      <p:pic>
        <p:nvPicPr>
          <p:cNvPr id="106" name=""/>
          <p:cNvPicPr/>
          <p:nvPr/>
        </p:nvPicPr>
        <p:blipFill>
          <a:blip r:embed="rId2"/>
          <a:stretch/>
        </p:blipFill>
        <p:spPr>
          <a:xfrm>
            <a:off x="6400800" y="1096560"/>
            <a:ext cx="3701160" cy="484704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Demo</a:t>
            </a:r>
            <a:endParaRPr lang="vi-VN" sz="4400" b="0" u="none" strike="noStrike">
              <a:solidFill>
                <a:schemeClr val="dk1"/>
              </a:solidFill>
              <a:effectLst/>
              <a:uFillTx/>
              <a:latin typeface="Aptos Display"/>
            </a:endParaRPr>
          </a:p>
        </p:txBody>
      </p:sp>
      <p:sp>
        <p:nvSpPr>
          <p:cNvPr id="108" name="PlaceHolder 2"/>
          <p:cNvSpPr>
            <a:spLocks noGrp="1"/>
          </p:cNvSpPr>
          <p:nvPr>
            <p:ph/>
          </p:nvPr>
        </p:nvSpPr>
        <p:spPr>
          <a:xfrm>
            <a:off x="914400" y="5935680"/>
            <a:ext cx="10515240" cy="4350960"/>
          </a:xfrm>
          <a:prstGeom prst="rect">
            <a:avLst/>
          </a:prstGeom>
          <a:noFill/>
          <a:ln w="0">
            <a:noFill/>
          </a:ln>
        </p:spPr>
        <p:txBody>
          <a:bodyPr lIns="91440" tIns="45720" rIns="91440" bIns="45720" anchor="t">
            <a:noAutofit/>
          </a:bodyPr>
          <a:p>
            <a:pPr marL="228600" indent="0" algn="ctr" defTabSz="914400">
              <a:lnSpc>
                <a:spcPct val="90000"/>
              </a:lnSpc>
              <a:spcBef>
                <a:spcPts val="1001"/>
              </a:spcBef>
              <a:buNone/>
            </a:pPr>
            <a:r>
              <a:rPr lang="vi-VN" sz="1800" b="0" u="none" strike="noStrike">
                <a:solidFill>
                  <a:schemeClr val="dk1"/>
                </a:solidFill>
                <a:effectLst/>
                <a:uFillTx/>
                <a:latin typeface="Aptos"/>
              </a:rPr>
              <a:t>Giao diện cài đặt cho người dùng</a:t>
            </a:r>
            <a:endParaRPr lang="vi-VN" sz="1800" b="0" u="none" strike="noStrike">
              <a:solidFill>
                <a:schemeClr val="dk1"/>
              </a:solidFill>
              <a:effectLst/>
              <a:uFillTx/>
              <a:latin typeface="Aptos"/>
            </a:endParaRPr>
          </a:p>
        </p:txBody>
      </p:sp>
      <p:pic>
        <p:nvPicPr>
          <p:cNvPr id="109" name=""/>
          <p:cNvPicPr/>
          <p:nvPr/>
        </p:nvPicPr>
        <p:blipFill>
          <a:blip r:embed="rId1"/>
          <a:stretch/>
        </p:blipFill>
        <p:spPr>
          <a:xfrm>
            <a:off x="1828800" y="1953360"/>
            <a:ext cx="3846960" cy="2390040"/>
          </a:xfrm>
          <a:prstGeom prst="rect">
            <a:avLst/>
          </a:prstGeom>
          <a:noFill/>
          <a:ln w="0">
            <a:noFill/>
          </a:ln>
        </p:spPr>
      </p:pic>
      <p:pic>
        <p:nvPicPr>
          <p:cNvPr id="110" name=""/>
          <p:cNvPicPr/>
          <p:nvPr/>
        </p:nvPicPr>
        <p:blipFill>
          <a:blip r:embed="rId2"/>
          <a:stretch/>
        </p:blipFill>
        <p:spPr>
          <a:xfrm>
            <a:off x="6400800" y="848880"/>
            <a:ext cx="4675680" cy="46375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1836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US" sz="4400" b="0" u="none" strike="noStrike">
                <a:solidFill>
                  <a:schemeClr val="dk1"/>
                </a:solidFill>
                <a:effectLst/>
                <a:uFillTx/>
                <a:latin typeface="Aptos Display"/>
              </a:rPr>
              <a:t>Kết luận</a:t>
            </a:r>
            <a:endParaRPr lang="vi-VN" sz="4400" b="0" u="none" strike="noStrike">
              <a:solidFill>
                <a:schemeClr val="dk1"/>
              </a:solidFill>
              <a:effectLst/>
              <a:uFillTx/>
              <a:latin typeface="Aptos Display"/>
            </a:endParaRPr>
          </a:p>
        </p:txBody>
      </p:sp>
      <p:sp>
        <p:nvSpPr>
          <p:cNvPr id="112" name="PlaceHolder 2"/>
          <p:cNvSpPr>
            <a:spLocks noGrp="1"/>
          </p:cNvSpPr>
          <p:nvPr>
            <p:ph/>
          </p:nvPr>
        </p:nvSpPr>
        <p:spPr>
          <a:xfrm>
            <a:off x="914760" y="1135440"/>
            <a:ext cx="10515240" cy="435096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pPr>
            <a:r>
              <a:rPr lang="vi-VN" sz="1800" b="0" u="none" strike="noStrike">
                <a:solidFill>
                  <a:schemeClr val="dk1"/>
                </a:solidFill>
                <a:effectLst/>
                <a:uFillTx/>
                <a:latin typeface="Aptos"/>
              </a:rPr>
              <a:t>Phần mềm vẫn còn nhiều phần chưa xử lí xong, ví dụ:</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Gửi mail vẫn dùng in log để làm placeholder</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Giao diện statistic bị lỗi khi có quá nhiều ticket</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Luồng xử lí đơn, chưa có load balance và caching</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Chưa xử lí được attachment</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Chưa có lazy loading, paging</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Ticket chưa thể đổi trạng thái bằng admin khi chưa đặt assignee (lỗi xử lí giao diện)</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Admin service giống một godclass</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Chưa có hệ thống backup </a:t>
            </a:r>
            <a:endParaRPr lang="vi-VN" sz="1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vi-VN" sz="1800" b="0" u="none" strike="noStrike">
                <a:solidFill>
                  <a:schemeClr val="dk1"/>
                </a:solidFill>
                <a:effectLst/>
                <a:uFillTx/>
                <a:latin typeface="Aptos"/>
              </a:rPr>
              <a:t>Và các lỗi khác chưa được test...</a:t>
            </a:r>
            <a:endParaRPr lang="vi-VN" sz="1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95</TotalTime>
  <Application>LibreOffice/26.2.2.2$Linux_X86_64 LibreOffice_project/b8d3d8168498fa6cc231901342a3b8d72dd2bb7e</Application>
  <AppVersion>15.0000</AppVersion>
  <Words>237</Words>
  <Paragraphs>26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2026-04-21T03:50:26Z</dcterms:created>
  <dc:creator>Lê Khánh Toàn</dc:creator>
  <dc:description/>
  <dc:language>en-US</dc:language>
  <cp:lastModifiedBy/>
  <dcterms:modified xsi:type="dcterms:W3CDTF">2026-04-21T16:16:38Z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10</vt:i4>
  </property>
</Properties>
</file>